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1417320"/>
            <a:ext cx="3246120" cy="3246120"/>
          </a:xfrm>
          <a:prstGeom prst="ellipse">
            <a:avLst/>
          </a:prstGeom>
          <a:solidFill>
            <a:srgbClr val="E30053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086600" y="384048"/>
            <a:ext cx="1783080" cy="1783080"/>
          </a:xfrm>
          <a:prstGeom prst="ellipse">
            <a:avLst/>
          </a:prstGeom>
          <a:solidFill>
            <a:srgbClr val="3457D5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3401568"/>
            <a:ext cx="777240" cy="777240"/>
          </a:xfrm>
          <a:prstGeom prst="ellipse">
            <a:avLst/>
          </a:prstGeom>
          <a:solidFill>
            <a:srgbClr val="E30053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18872" cy="5148072"/>
          </a:xfrm>
          <a:prstGeom prst="rect">
            <a:avLst/>
          </a:prstGeom>
          <a:solidFill>
            <a:srgbClr val="E30053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813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300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MANAGEMENT SYSTEM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5488" y="1755648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SchoolMate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02920" y="2715768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4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unified platform for academics, communication, finance,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4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and administration - built for the entire school.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584448"/>
            <a:ext cx="1005840" cy="27432"/>
          </a:xfrm>
          <a:prstGeom prst="rect">
            <a:avLst/>
          </a:prstGeom>
          <a:solidFill>
            <a:srgbClr val="E30053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7673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Modules   |   Parent Mobile App   |   React  +  Flutter  +  .NET  +  Azure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43159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  ______________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E3005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017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E300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SchoolMate?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single web application that runs the complete day-to-day operation of a school.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AFB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82496"/>
            <a:ext cx="41148" cy="969264"/>
          </a:xfrm>
          <a:prstGeom prst="rect">
            <a:avLst/>
          </a:prstGeom>
          <a:solidFill>
            <a:srgbClr val="E30053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17007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Platform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58952" y="20116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Academics, communication, fees, HR, transport and assets in one login - no separate tools.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481328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AFB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682496"/>
            <a:ext cx="41148" cy="969264"/>
          </a:xfrm>
          <a:prstGeom prst="rect">
            <a:avLst/>
          </a:prstGeom>
          <a:solidFill>
            <a:srgbClr val="3457D5"/>
          </a:solidFill>
          <a:ln/>
        </p:spPr>
      </p:sp>
      <p:sp>
        <p:nvSpPr>
          <p:cNvPr id="12" name="Text 10"/>
          <p:cNvSpPr/>
          <p:nvPr/>
        </p:nvSpPr>
        <p:spPr>
          <a:xfrm>
            <a:off x="4965192" y="17007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Role Covered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65192" y="20116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Management, Principal, Admin, Teachers, Accountants, Transport staff and Parents each get their own view.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054096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AFB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255264"/>
            <a:ext cx="41148" cy="969264"/>
          </a:xfrm>
          <a:prstGeom prst="rect">
            <a:avLst/>
          </a:prstGeom>
          <a:solidFill>
            <a:srgbClr val="8600BB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" y="32735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Driven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58952" y="3584448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goes out unchecked - create, review, approve, then publish.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3054096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AFB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3255264"/>
            <a:ext cx="41148" cy="969264"/>
          </a:xfrm>
          <a:prstGeom prst="rect">
            <a:avLst/>
          </a:prstGeom>
          <a:solidFill>
            <a:srgbClr val="00875A"/>
          </a:solidFill>
          <a:ln/>
        </p:spPr>
      </p:sp>
      <p:sp>
        <p:nvSpPr>
          <p:cNvPr id="20" name="Text 18"/>
          <p:cNvSpPr/>
          <p:nvPr/>
        </p:nvSpPr>
        <p:spPr>
          <a:xfrm>
            <a:off x="4965192" y="32735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to Decisions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65192" y="3584448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dashboards turn daily operations into charts, KPIs and reports.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SchoolMate  |  Introduction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138160" y="487375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E3005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017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E300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WE BUILT IT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and Our Solution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Schools run on registers, WhatsApp groups and spreadsheets. SchoolMate replaces all of it.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3931920" cy="3063240"/>
          </a:xfrm>
          <a:prstGeom prst="roundRect">
            <a:avLst>
              <a:gd name="adj" fmla="val 2388"/>
            </a:avLst>
          </a:prstGeom>
          <a:solidFill>
            <a:srgbClr val="FFF5F7"/>
          </a:solidFill>
          <a:ln w="12700">
            <a:solidFill>
              <a:srgbClr val="F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916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300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04825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300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   </a:t>
            </a:r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Records kept on paper and scattered Excel sheets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245059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300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   </a:t>
            </a:r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 collection tracked manually - errors and leakage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85292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300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   </a:t>
            </a:r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Parents informed through unofficial WhatsApp groups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325526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300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   </a:t>
            </a:r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Approvals happen verbally with no audit trail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36576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300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   </a:t>
            </a:r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attendance, leave and salary handled separately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405993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300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   </a:t>
            </a:r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single view of what is happening in the school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1481328"/>
            <a:ext cx="3931920" cy="3063240"/>
          </a:xfrm>
          <a:prstGeom prst="roundRect">
            <a:avLst>
              <a:gd name="adj" fmla="val 2388"/>
            </a:avLst>
          </a:prstGeom>
          <a:solidFill>
            <a:srgbClr val="F2FBF6"/>
          </a:solidFill>
          <a:ln w="12700">
            <a:solidFill>
              <a:srgbClr val="CDEB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6916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SCHOOLMATE DELIVERS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204825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  </a:t>
            </a:r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database - one source of truth for the school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83480" y="245059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  </a:t>
            </a:r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fee billing, receipts and reconciliation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83480" y="285292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  </a:t>
            </a:r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announcements with read and view tracking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83480" y="325526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  </a:t>
            </a:r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approval flows with a full audit log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83480" y="36576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  </a:t>
            </a:r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Integrated attendance, leave, payroll and compliance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83480" y="405993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  </a:t>
            </a:r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dashboards for management at a glance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SchoolMate  |  Problem &amp; Solution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138160" y="487375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E3005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017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E300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complete stack - a React web app and a Flutter parent app in front, .NET and Azure behind them.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97764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3977640" cy="45720"/>
          </a:xfrm>
          <a:prstGeom prst="rect">
            <a:avLst/>
          </a:prstGeom>
          <a:solidFill>
            <a:srgbClr val="3457D5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153619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3457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SIDE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22376" y="17190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&amp; Mobile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40664" y="2176272"/>
            <a:ext cx="91440" cy="91440"/>
          </a:xfrm>
          <a:prstGeom prst="ellipse">
            <a:avLst/>
          </a:prstGeom>
          <a:solidFill>
            <a:srgbClr val="3457D5"/>
          </a:solidFill>
          <a:ln/>
        </p:spPr>
      </p:sp>
      <p:sp>
        <p:nvSpPr>
          <p:cNvPr id="11" name="Text 9"/>
          <p:cNvSpPr/>
          <p:nvPr/>
        </p:nvSpPr>
        <p:spPr>
          <a:xfrm>
            <a:off x="923544" y="20848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18.3</a:t>
            </a:r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web SPA, functional components + hooks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0664" y="2519172"/>
            <a:ext cx="91440" cy="91440"/>
          </a:xfrm>
          <a:prstGeom prst="ellipse">
            <a:avLst/>
          </a:prstGeom>
          <a:solidFill>
            <a:srgbClr val="3457D5"/>
          </a:solidFill>
          <a:ln/>
        </p:spPr>
      </p:sp>
      <p:sp>
        <p:nvSpPr>
          <p:cNvPr id="13" name="Text 11"/>
          <p:cNvSpPr/>
          <p:nvPr/>
        </p:nvSpPr>
        <p:spPr>
          <a:xfrm>
            <a:off x="923544" y="24277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Flutter</a:t>
            </a:r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parent mobile app, Android and iOS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0664" y="2862072"/>
            <a:ext cx="91440" cy="91440"/>
          </a:xfrm>
          <a:prstGeom prst="ellipse">
            <a:avLst/>
          </a:prstGeom>
          <a:solidFill>
            <a:srgbClr val="3457D5"/>
          </a:solidFill>
          <a:ln/>
        </p:spPr>
      </p:sp>
      <p:sp>
        <p:nvSpPr>
          <p:cNvPr id="15" name="Text 13"/>
          <p:cNvSpPr/>
          <p:nvPr/>
        </p:nvSpPr>
        <p:spPr>
          <a:xfrm>
            <a:off x="923544" y="27706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Router 6.27</a:t>
            </a:r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200+ nested, permission-gated routes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40664" y="3204972"/>
            <a:ext cx="91440" cy="91440"/>
          </a:xfrm>
          <a:prstGeom prst="ellipse">
            <a:avLst/>
          </a:prstGeom>
          <a:solidFill>
            <a:srgbClr val="3457D5"/>
          </a:solidFill>
          <a:ln/>
        </p:spPr>
      </p:sp>
      <p:sp>
        <p:nvSpPr>
          <p:cNvPr id="17" name="Text 15"/>
          <p:cNvSpPr/>
          <p:nvPr/>
        </p:nvSpPr>
        <p:spPr>
          <a:xfrm>
            <a:off x="923544" y="31135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Redux Toolkit + Persist</a:t>
            </a:r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global state, survives refresh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0664" y="3547872"/>
            <a:ext cx="91440" cy="91440"/>
          </a:xfrm>
          <a:prstGeom prst="ellipse">
            <a:avLst/>
          </a:prstGeom>
          <a:solidFill>
            <a:srgbClr val="3457D5"/>
          </a:solidFill>
          <a:ln/>
        </p:spPr>
      </p:sp>
      <p:sp>
        <p:nvSpPr>
          <p:cNvPr id="19" name="Text 17"/>
          <p:cNvSpPr/>
          <p:nvPr/>
        </p:nvSpPr>
        <p:spPr>
          <a:xfrm>
            <a:off x="923544" y="34564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Material UI 7.3</a:t>
            </a:r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components, Emotion CSS-in-JS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0664" y="3890772"/>
            <a:ext cx="91440" cy="91440"/>
          </a:xfrm>
          <a:prstGeom prst="ellipse">
            <a:avLst/>
          </a:prstGeom>
          <a:solidFill>
            <a:srgbClr val="3457D5"/>
          </a:solidFill>
          <a:ln/>
        </p:spPr>
      </p:sp>
      <p:sp>
        <p:nvSpPr>
          <p:cNvPr id="21" name="Text 19"/>
          <p:cNvSpPr/>
          <p:nvPr/>
        </p:nvSpPr>
        <p:spPr>
          <a:xfrm>
            <a:off x="923544" y="37993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Recharts / Chart.js</a:t>
            </a:r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dashboards and analytics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40664" y="4233672"/>
            <a:ext cx="91440" cy="91440"/>
          </a:xfrm>
          <a:prstGeom prst="ellipse">
            <a:avLst/>
          </a:prstGeom>
          <a:solidFill>
            <a:srgbClr val="3457D5"/>
          </a:solidFill>
          <a:ln/>
        </p:spPr>
      </p:sp>
      <p:sp>
        <p:nvSpPr>
          <p:cNvPr id="23" name="Text 21"/>
          <p:cNvSpPr/>
          <p:nvPr/>
        </p:nvSpPr>
        <p:spPr>
          <a:xfrm>
            <a:off x="923544" y="41422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Axios 1.7</a:t>
            </a:r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centralised API layer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417320"/>
            <a:ext cx="397764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1417320"/>
            <a:ext cx="3977640" cy="457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6" name="Text 24"/>
          <p:cNvSpPr/>
          <p:nvPr/>
        </p:nvSpPr>
        <p:spPr>
          <a:xfrm>
            <a:off x="4882896" y="153619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SIDE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82896" y="17190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&amp; Cloud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901184" y="2176272"/>
            <a:ext cx="91440" cy="9144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9" name="Text 27"/>
          <p:cNvSpPr/>
          <p:nvPr/>
        </p:nvSpPr>
        <p:spPr>
          <a:xfrm>
            <a:off x="5084064" y="20848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.NET Web API</a:t>
            </a:r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REST services, business logic, auth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01184" y="2519172"/>
            <a:ext cx="91440" cy="9144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31" name="Text 29"/>
          <p:cNvSpPr/>
          <p:nvPr/>
        </p:nvSpPr>
        <p:spPr>
          <a:xfrm>
            <a:off x="5084064" y="24277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</a:t>
            </a:r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relational database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01184" y="2862072"/>
            <a:ext cx="91440" cy="9144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33" name="Text 31"/>
          <p:cNvSpPr/>
          <p:nvPr/>
        </p:nvSpPr>
        <p:spPr>
          <a:xfrm>
            <a:off x="5084064" y="27706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Azure</a:t>
            </a:r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cloud hosting for API and database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01184" y="3204972"/>
            <a:ext cx="91440" cy="9144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35" name="Text 33"/>
          <p:cNvSpPr/>
          <p:nvPr/>
        </p:nvSpPr>
        <p:spPr>
          <a:xfrm>
            <a:off x="5084064" y="31135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Blob Storage</a:t>
            </a:r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attachments, books, images, media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901184" y="3547872"/>
            <a:ext cx="91440" cy="9144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37" name="Text 35"/>
          <p:cNvSpPr/>
          <p:nvPr/>
        </p:nvSpPr>
        <p:spPr>
          <a:xfrm>
            <a:off x="5084064" y="34564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OpenAI</a:t>
            </a:r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online quiz generation and evaluation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901184" y="3890772"/>
            <a:ext cx="91440" cy="9144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39" name="Text 37"/>
          <p:cNvSpPr/>
          <p:nvPr/>
        </p:nvSpPr>
        <p:spPr>
          <a:xfrm>
            <a:off x="5084064" y="37993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SignalR + Firebase</a:t>
            </a:r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real-time chat and push notifications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SchoolMate  |  Technology Stack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138160" y="487375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E3005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017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E300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front-end apps, one backend, one database - everything shares the same source of truth.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60120" y="1463040"/>
            <a:ext cx="3291840" cy="658368"/>
          </a:xfrm>
          <a:prstGeom prst="roundRect">
            <a:avLst>
              <a:gd name="adj" fmla="val 9722"/>
            </a:avLst>
          </a:prstGeom>
          <a:solidFill>
            <a:srgbClr val="F5F8FF"/>
          </a:solidFill>
          <a:ln w="15875">
            <a:solidFill>
              <a:srgbClr val="3457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3619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57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Web Application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176479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Staff, teachers, admin, management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892040" y="1463040"/>
            <a:ext cx="3291840" cy="658368"/>
          </a:xfrm>
          <a:prstGeom prst="roundRect">
            <a:avLst>
              <a:gd name="adj" fmla="val 9722"/>
            </a:avLst>
          </a:prstGeom>
          <a:solidFill>
            <a:srgbClr val="F0FDFA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53619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Flutter Mobile App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37760" y="176479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Parents - Android and iOS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06040" y="2121408"/>
            <a:ext cx="0" cy="74980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537960" y="2121408"/>
            <a:ext cx="0" cy="74980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566160" y="21945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  /  REST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" y="2615184"/>
            <a:ext cx="7772400" cy="1783080"/>
          </a:xfrm>
          <a:prstGeom prst="roundRect">
            <a:avLst>
              <a:gd name="adj" fmla="val 4103"/>
            </a:avLst>
          </a:prstGeom>
          <a:solidFill>
            <a:srgbClr val="F8FBFF"/>
          </a:solidFill>
          <a:ln w="12700">
            <a:solidFill>
              <a:srgbClr val="0078D4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868680" y="267004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AZURE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60120" y="2898648"/>
            <a:ext cx="72237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971800"/>
            <a:ext cx="7132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.NET Web API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05840" y="3200400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logic  ·  Authentication  ·  Role-based permissions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01368" y="3465576"/>
            <a:ext cx="0" cy="25603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0120" y="3739896"/>
            <a:ext cx="168249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5875">
            <a:solidFill>
              <a:srgbClr val="8600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813048"/>
            <a:ext cx="1591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600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05840" y="4041648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48456" y="3465576"/>
            <a:ext cx="0" cy="25603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807208" y="3739896"/>
            <a:ext cx="168249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5875">
            <a:solidFill>
              <a:srgbClr val="0087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52928" y="3813048"/>
            <a:ext cx="1591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Blob Storage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852928" y="4041648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Files &amp; media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95544" y="3465576"/>
            <a:ext cx="0" cy="25603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654296" y="3739896"/>
            <a:ext cx="168249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5875">
            <a:solidFill>
              <a:srgbClr val="FF6B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0016" y="3813048"/>
            <a:ext cx="1591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OpenAI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00016" y="4041648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Quiz engine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342632" y="3465576"/>
            <a:ext cx="0" cy="25603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501384" y="3739896"/>
            <a:ext cx="168249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5875">
            <a:solidFill>
              <a:srgbClr val="D94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47104" y="3813048"/>
            <a:ext cx="1591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4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SignalR + Firebase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547104" y="4041648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chat &amp; push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2920" y="44988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API serves both apps, so a mark entered by a teacher on the web is the same record a parent sees in the app.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SchoolMate  |  System Architecture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138160" y="487375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E3005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017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E300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12 Modules of SchoolMate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you are about to see, on one screen.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1892808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63040"/>
            <a:ext cx="41148" cy="877824"/>
          </a:xfrm>
          <a:prstGeom prst="rect">
            <a:avLst/>
          </a:prstGeom>
          <a:solidFill>
            <a:srgbClr val="E30053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5361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300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39696" y="1581912"/>
            <a:ext cx="118872" cy="118872"/>
          </a:xfrm>
          <a:prstGeom prst="ellipse">
            <a:avLst/>
          </a:prstGeom>
          <a:solidFill>
            <a:srgbClr val="00875A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" y="172821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199339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command centre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87752" y="1463040"/>
            <a:ext cx="1892808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87752" y="1463040"/>
            <a:ext cx="41148" cy="877824"/>
          </a:xfrm>
          <a:prstGeom prst="rect">
            <a:avLst/>
          </a:prstGeom>
          <a:solidFill>
            <a:srgbClr val="3457D5"/>
          </a:solidFill>
          <a:ln/>
        </p:spPr>
      </p:sp>
      <p:sp>
        <p:nvSpPr>
          <p:cNvPr id="14" name="Text 12"/>
          <p:cNvSpPr/>
          <p:nvPr/>
        </p:nvSpPr>
        <p:spPr>
          <a:xfrm>
            <a:off x="2734056" y="15361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457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224528" y="1581912"/>
            <a:ext cx="118872" cy="118872"/>
          </a:xfrm>
          <a:prstGeom prst="ellipse">
            <a:avLst/>
          </a:prstGeom>
          <a:solidFill>
            <a:srgbClr val="00875A"/>
          </a:solidFill>
          <a:ln/>
        </p:spPr>
      </p:sp>
      <p:sp>
        <p:nvSpPr>
          <p:cNvPr id="16" name="Text 14"/>
          <p:cNvSpPr/>
          <p:nvPr/>
        </p:nvSpPr>
        <p:spPr>
          <a:xfrm>
            <a:off x="2734056" y="172821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 Management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34056" y="199339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&amp; staff records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72584" y="1463040"/>
            <a:ext cx="1892808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72584" y="1463040"/>
            <a:ext cx="41148" cy="877824"/>
          </a:xfrm>
          <a:prstGeom prst="rect">
            <a:avLst/>
          </a:prstGeom>
          <a:solidFill>
            <a:srgbClr val="8600BB"/>
          </a:solidFill>
          <a:ln/>
        </p:spPr>
      </p:sp>
      <p:sp>
        <p:nvSpPr>
          <p:cNvPr id="20" name="Text 18"/>
          <p:cNvSpPr/>
          <p:nvPr/>
        </p:nvSpPr>
        <p:spPr>
          <a:xfrm>
            <a:off x="4818888" y="15361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600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309360" y="1581912"/>
            <a:ext cx="118872" cy="118872"/>
          </a:xfrm>
          <a:prstGeom prst="ellipse">
            <a:avLst/>
          </a:prstGeom>
          <a:solidFill>
            <a:srgbClr val="00875A"/>
          </a:solidFill>
          <a:ln/>
        </p:spPr>
      </p:sp>
      <p:sp>
        <p:nvSpPr>
          <p:cNvPr id="22" name="Text 20"/>
          <p:cNvSpPr/>
          <p:nvPr/>
        </p:nvSpPr>
        <p:spPr>
          <a:xfrm>
            <a:off x="4818888" y="172821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Communication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18888" y="199339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News, circulars, homework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757416" y="1463040"/>
            <a:ext cx="1892808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57416" y="1463040"/>
            <a:ext cx="41148" cy="877824"/>
          </a:xfrm>
          <a:prstGeom prst="rect">
            <a:avLst/>
          </a:prstGeom>
          <a:solidFill>
            <a:srgbClr val="00875A"/>
          </a:solidFill>
          <a:ln/>
        </p:spPr>
      </p:sp>
      <p:sp>
        <p:nvSpPr>
          <p:cNvPr id="26" name="Text 24"/>
          <p:cNvSpPr/>
          <p:nvPr/>
        </p:nvSpPr>
        <p:spPr>
          <a:xfrm>
            <a:off x="6903720" y="15361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394192" y="1581912"/>
            <a:ext cx="118872" cy="11887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8" name="Text 26"/>
          <p:cNvSpPr/>
          <p:nvPr/>
        </p:nvSpPr>
        <p:spPr>
          <a:xfrm>
            <a:off x="6903720" y="172821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03720" y="199339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Books, chapters, library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02920" y="2468880"/>
            <a:ext cx="1892808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2468880"/>
            <a:ext cx="41148" cy="87782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" y="25420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139696" y="2587752"/>
            <a:ext cx="118872" cy="11887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" y="273405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9224" y="299923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papers &amp; quizzes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587752" y="2468880"/>
            <a:ext cx="1892808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87752" y="2468880"/>
            <a:ext cx="41148" cy="877824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38" name="Text 36"/>
          <p:cNvSpPr/>
          <p:nvPr/>
        </p:nvSpPr>
        <p:spPr>
          <a:xfrm>
            <a:off x="2734056" y="25420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AC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224528" y="2587752"/>
            <a:ext cx="118872" cy="118872"/>
          </a:xfrm>
          <a:prstGeom prst="ellipse">
            <a:avLst/>
          </a:prstGeom>
          <a:solidFill>
            <a:srgbClr val="00875A"/>
          </a:solidFill>
          <a:ln/>
        </p:spPr>
      </p:sp>
      <p:sp>
        <p:nvSpPr>
          <p:cNvPr id="40" name="Text 38"/>
          <p:cNvSpPr/>
          <p:nvPr/>
        </p:nvSpPr>
        <p:spPr>
          <a:xfrm>
            <a:off x="2734056" y="273405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 &amp; Finance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734056" y="299923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 and collections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72584" y="2468880"/>
            <a:ext cx="1892808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72584" y="2468880"/>
            <a:ext cx="41148" cy="877824"/>
          </a:xfrm>
          <a:prstGeom prst="rect">
            <a:avLst/>
          </a:prstGeom>
          <a:solidFill>
            <a:srgbClr val="D946A0"/>
          </a:solidFill>
          <a:ln/>
        </p:spPr>
      </p:sp>
      <p:sp>
        <p:nvSpPr>
          <p:cNvPr id="44" name="Text 42"/>
          <p:cNvSpPr/>
          <p:nvPr/>
        </p:nvSpPr>
        <p:spPr>
          <a:xfrm>
            <a:off x="4818888" y="25420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4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309360" y="2587752"/>
            <a:ext cx="118872" cy="118872"/>
          </a:xfrm>
          <a:prstGeom prst="ellipse">
            <a:avLst/>
          </a:prstGeom>
          <a:solidFill>
            <a:srgbClr val="00875A"/>
          </a:solidFill>
          <a:ln/>
        </p:spPr>
      </p:sp>
      <p:sp>
        <p:nvSpPr>
          <p:cNvPr id="46" name="Text 44"/>
          <p:cNvSpPr/>
          <p:nvPr/>
        </p:nvSpPr>
        <p:spPr>
          <a:xfrm>
            <a:off x="4818888" y="273405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&amp; Payroll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18888" y="299923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Attendance to salary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757416" y="2468880"/>
            <a:ext cx="1892808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57416" y="2468880"/>
            <a:ext cx="41148" cy="87782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6903720" y="25420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8394192" y="2587752"/>
            <a:ext cx="118872" cy="118872"/>
          </a:xfrm>
          <a:prstGeom prst="ellipse">
            <a:avLst/>
          </a:prstGeom>
          <a:solidFill>
            <a:srgbClr val="00875A"/>
          </a:solidFill>
          <a:ln/>
        </p:spPr>
      </p:sp>
      <p:sp>
        <p:nvSpPr>
          <p:cNvPr id="52" name="Text 50"/>
          <p:cNvSpPr/>
          <p:nvPr/>
        </p:nvSpPr>
        <p:spPr>
          <a:xfrm>
            <a:off x="6903720" y="273405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Transport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903720" y="299923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Vehicles, routes, mapping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02920" y="3474720"/>
            <a:ext cx="1892808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02920" y="3474720"/>
            <a:ext cx="41148" cy="87782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6" name="Text 54"/>
          <p:cNvSpPr/>
          <p:nvPr/>
        </p:nvSpPr>
        <p:spPr>
          <a:xfrm>
            <a:off x="649224" y="35478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139696" y="3593592"/>
            <a:ext cx="118872" cy="11887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58" name="Text 56"/>
          <p:cNvSpPr/>
          <p:nvPr/>
        </p:nvSpPr>
        <p:spPr>
          <a:xfrm>
            <a:off x="649224" y="373989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Assets &amp; Inventory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49224" y="400507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and school property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587752" y="3474720"/>
            <a:ext cx="1892808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587752" y="3474720"/>
            <a:ext cx="41148" cy="87782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2" name="Text 60"/>
          <p:cNvSpPr/>
          <p:nvPr/>
        </p:nvSpPr>
        <p:spPr>
          <a:xfrm>
            <a:off x="2734056" y="35478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224528" y="3593592"/>
            <a:ext cx="118872" cy="11887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4" name="Text 62"/>
          <p:cNvSpPr/>
          <p:nvPr/>
        </p:nvSpPr>
        <p:spPr>
          <a:xfrm>
            <a:off x="2734056" y="373989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Complaints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2734056" y="400507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Grievances with SLA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672584" y="3474720"/>
            <a:ext cx="1892808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672584" y="3474720"/>
            <a:ext cx="41148" cy="87782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68" name="Text 66"/>
          <p:cNvSpPr/>
          <p:nvPr/>
        </p:nvSpPr>
        <p:spPr>
          <a:xfrm>
            <a:off x="4818888" y="35478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309360" y="3593592"/>
            <a:ext cx="118872" cy="118872"/>
          </a:xfrm>
          <a:prstGeom prst="ellipse">
            <a:avLst/>
          </a:prstGeom>
          <a:solidFill>
            <a:srgbClr val="00875A"/>
          </a:solidFill>
          <a:ln/>
        </p:spPr>
      </p:sp>
      <p:sp>
        <p:nvSpPr>
          <p:cNvPr id="70" name="Text 68"/>
          <p:cNvSpPr/>
          <p:nvPr/>
        </p:nvSpPr>
        <p:spPr>
          <a:xfrm>
            <a:off x="4818888" y="373989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Done &amp; Projects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4818888" y="400507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teaching record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757416" y="3474720"/>
            <a:ext cx="1892808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757416" y="3474720"/>
            <a:ext cx="41148" cy="87782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4" name="Text 72"/>
          <p:cNvSpPr/>
          <p:nvPr/>
        </p:nvSpPr>
        <p:spPr>
          <a:xfrm>
            <a:off x="6903720" y="35478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8394192" y="3593592"/>
            <a:ext cx="118872" cy="118872"/>
          </a:xfrm>
          <a:prstGeom prst="ellipse">
            <a:avLst/>
          </a:prstGeom>
          <a:solidFill>
            <a:srgbClr val="00875A"/>
          </a:solidFill>
          <a:ln/>
        </p:spPr>
      </p:sp>
      <p:sp>
        <p:nvSpPr>
          <p:cNvPr id="76" name="Text 74"/>
          <p:cNvSpPr/>
          <p:nvPr/>
        </p:nvSpPr>
        <p:spPr>
          <a:xfrm>
            <a:off x="6903720" y="373989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Approvals + Access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6903720" y="400507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Decisions, roles &amp; setup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548640" y="4562856"/>
            <a:ext cx="118872" cy="118872"/>
          </a:xfrm>
          <a:prstGeom prst="ellipse">
            <a:avLst/>
          </a:prstGeom>
          <a:solidFill>
            <a:srgbClr val="00875A"/>
          </a:solidFill>
          <a:ln/>
        </p:spPr>
      </p:sp>
      <p:sp>
        <p:nvSpPr>
          <p:cNvPr id="79" name="Text 77"/>
          <p:cNvSpPr/>
          <p:nvPr/>
        </p:nvSpPr>
        <p:spPr>
          <a:xfrm>
            <a:off x="749808" y="4498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and in daily use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3337560" y="4562856"/>
            <a:ext cx="118872" cy="11887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81" name="Text 79"/>
          <p:cNvSpPr/>
          <p:nvPr/>
        </p:nvSpPr>
        <p:spPr>
          <a:xfrm>
            <a:off x="3538728" y="4498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complete - integration in progress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126480" y="4562856"/>
            <a:ext cx="118872" cy="11887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83" name="Text 81"/>
          <p:cNvSpPr/>
          <p:nvPr/>
        </p:nvSpPr>
        <p:spPr>
          <a:xfrm>
            <a:off x="6327648" y="4498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 - not yet built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85" name="Text 83"/>
          <p:cNvSpPr/>
          <p:nvPr/>
        </p:nvSpPr>
        <p:spPr>
          <a:xfrm>
            <a:off x="5029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SchoolMate  |  Module Landscape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8138160" y="487375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E3005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017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E300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Reaches a Parent Unchecked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approval pipeline runs behind almost every module in SchoolMate.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1773936" cy="749808"/>
          </a:xfrm>
          <a:prstGeom prst="chevron">
            <a:avLst/>
          </a:prstGeom>
          <a:solidFill>
            <a:srgbClr val="3457D5"/>
          </a:solidFill>
          <a:ln w="12700">
            <a:solidFill>
              <a:srgbClr val="3457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572768"/>
            <a:ext cx="1517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6072" y="2432304"/>
            <a:ext cx="16824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teacher or staff member drafts the content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98548" y="1572768"/>
            <a:ext cx="1773936" cy="749808"/>
          </a:xfrm>
          <a:prstGeom prst="chevron">
            <a:avLst/>
          </a:prstGeom>
          <a:solidFill>
            <a:srgbClr val="8600BB"/>
          </a:solidFill>
          <a:ln w="12700">
            <a:solidFill>
              <a:srgbClr val="8600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4852" y="1572768"/>
            <a:ext cx="1517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71700" y="2432304"/>
            <a:ext cx="16824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lands in the approver's queue automatically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94176" y="1572768"/>
            <a:ext cx="1773936" cy="749808"/>
          </a:xfrm>
          <a:prstGeom prst="chevro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1572768"/>
            <a:ext cx="1517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67328" y="2432304"/>
            <a:ext cx="16824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Approver edits inline, then approves or rejects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289804" y="1572768"/>
            <a:ext cx="1773936" cy="749808"/>
          </a:xfrm>
          <a:prstGeom prst="chevron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36108" y="1572768"/>
            <a:ext cx="1517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62956" y="2432304"/>
            <a:ext cx="16824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Released to the classes it was targeted at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885432" y="1572768"/>
            <a:ext cx="1773936" cy="749808"/>
          </a:xfrm>
          <a:prstGeom prst="chevron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31736" y="1572768"/>
            <a:ext cx="1517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58584" y="2432304"/>
            <a:ext cx="16824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Parents and students see it on web and app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00200" y="3108960"/>
            <a:ext cx="2377440" cy="0"/>
          </a:xfrm>
          <a:prstGeom prst="line">
            <a:avLst/>
          </a:prstGeom>
          <a:noFill/>
          <a:ln w="15875">
            <a:solidFill>
              <a:srgbClr val="EF4444"/>
            </a:solidFill>
            <a:prstDash val="dash"/>
            <a:headEnd type="triangle"/>
          </a:ln>
        </p:spPr>
      </p:sp>
      <p:sp>
        <p:nvSpPr>
          <p:cNvPr id="22" name="Text 20"/>
          <p:cNvSpPr/>
          <p:nvPr/>
        </p:nvSpPr>
        <p:spPr>
          <a:xfrm>
            <a:off x="914400" y="318211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Rejected - returns to the author's drafts with remarks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2920" y="3529584"/>
            <a:ext cx="8138160" cy="566928"/>
          </a:xfrm>
          <a:prstGeom prst="roundRect">
            <a:avLst>
              <a:gd name="adj" fmla="val 1129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529584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log:   </a:t>
            </a:r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stage is stamped with who acted, what they changed and when - so any decision can be traced months later.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422452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300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behind:   </a:t>
            </a:r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News  ·  Circulars  ·  Messages  ·  Homework  ·  Question Papers  ·  Fee approvals  ·  Staff &amp; student leave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SchoolMate  |  The Approval Pipeline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138160" y="487375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E3005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017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E300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01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landing screen - the health of the whole school in a single view.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903720" y="25603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 w="9525">
            <a:solidFill>
              <a:srgbClr val="0087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0" y="2560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728216"/>
            <a:ext cx="109728" cy="109728"/>
          </a:xfrm>
          <a:prstGeom prst="ellipse">
            <a:avLst/>
          </a:prstGeom>
          <a:solidFill>
            <a:srgbClr val="E30053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15179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Landing View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86968" y="17465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Management, principal and staff each land on their own dashboard layout.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463040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64608" y="1728216"/>
            <a:ext cx="109728" cy="109728"/>
          </a:xfrm>
          <a:prstGeom prst="ellipse">
            <a:avLst/>
          </a:prstGeom>
          <a:solidFill>
            <a:srgbClr val="E30053"/>
          </a:solidFill>
          <a:ln/>
        </p:spPr>
      </p:sp>
      <p:sp>
        <p:nvSpPr>
          <p:cNvPr id="14" name="Text 12"/>
          <p:cNvSpPr/>
          <p:nvPr/>
        </p:nvSpPr>
        <p:spPr>
          <a:xfrm>
            <a:off x="5093208" y="15179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KPI Cards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93208" y="17465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Students, staff, fee collection, attendance and pending approvals at a glance.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185416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450592"/>
            <a:ext cx="109728" cy="109728"/>
          </a:xfrm>
          <a:prstGeom prst="ellipse">
            <a:avLst/>
          </a:prstGeom>
          <a:solidFill>
            <a:srgbClr val="E30053"/>
          </a:solidFill>
          <a:ln/>
        </p:spPr>
      </p:sp>
      <p:sp>
        <p:nvSpPr>
          <p:cNvPr id="18" name="Text 16"/>
          <p:cNvSpPr/>
          <p:nvPr/>
        </p:nvSpPr>
        <p:spPr>
          <a:xfrm>
            <a:off x="886968" y="224028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Charts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86968" y="2468880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trends, fee distribution and grade-wise collection built with Recharts.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185416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4608" y="2450592"/>
            <a:ext cx="109728" cy="109728"/>
          </a:xfrm>
          <a:prstGeom prst="ellipse">
            <a:avLst/>
          </a:prstGeom>
          <a:solidFill>
            <a:srgbClr val="E30053"/>
          </a:solidFill>
          <a:ln/>
        </p:spPr>
      </p:sp>
      <p:sp>
        <p:nvSpPr>
          <p:cNvPr id="22" name="Text 20"/>
          <p:cNvSpPr/>
          <p:nvPr/>
        </p:nvSpPr>
        <p:spPr>
          <a:xfrm>
            <a:off x="5093208" y="224028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Action Feed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93208" y="2468880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Items waiting on the logged-in user - approvals, drafts and alerts.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2907792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3172968"/>
            <a:ext cx="109728" cy="109728"/>
          </a:xfrm>
          <a:prstGeom prst="ellipse">
            <a:avLst/>
          </a:prstGeom>
          <a:solidFill>
            <a:srgbClr val="E30053"/>
          </a:solidFill>
          <a:ln/>
        </p:spPr>
      </p:sp>
      <p:sp>
        <p:nvSpPr>
          <p:cNvPr id="26" name="Text 24"/>
          <p:cNvSpPr/>
          <p:nvPr/>
        </p:nvSpPr>
        <p:spPr>
          <a:xfrm>
            <a:off x="886968" y="296265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Birthday &amp; Events Panel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6968" y="3191256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Today's birthdays and upcoming calendar events with one-click posting.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2907792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64608" y="3172968"/>
            <a:ext cx="109728" cy="109728"/>
          </a:xfrm>
          <a:prstGeom prst="ellipse">
            <a:avLst/>
          </a:prstGeom>
          <a:solidFill>
            <a:srgbClr val="E30053"/>
          </a:solidFill>
          <a:ln/>
        </p:spPr>
      </p:sp>
      <p:sp>
        <p:nvSpPr>
          <p:cNvPr id="30" name="Text 28"/>
          <p:cNvSpPr/>
          <p:nvPr/>
        </p:nvSpPr>
        <p:spPr>
          <a:xfrm>
            <a:off x="5093208" y="296265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Navigation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93208" y="3191256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Shortcut cards jump straight into any module without menu hunting.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3721608"/>
            <a:ext cx="8138160" cy="438912"/>
          </a:xfrm>
          <a:prstGeom prst="roundRect">
            <a:avLst>
              <a:gd name="adj" fmla="val 12500"/>
            </a:avLst>
          </a:prstGeom>
          <a:solidFill>
            <a:srgbClr val="E30053">
              <a:alpha val="7000"/>
            </a:srgbClr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372160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00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value:   </a:t>
            </a:r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 gets answers in ten seconds instead of asking three departments for reports.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SchoolMate  |  Dashboard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138160" y="487375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3457D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017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457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02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 Management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master record of every student and every staff member in the school.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903720" y="25603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 w="9525">
            <a:solidFill>
              <a:srgbClr val="0087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0" y="2560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728216"/>
            <a:ext cx="109728" cy="109728"/>
          </a:xfrm>
          <a:prstGeom prst="ellipse">
            <a:avLst/>
          </a:prstGeom>
          <a:solidFill>
            <a:srgbClr val="3457D5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15179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Information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86968" y="17465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Create, view and edit complete student profiles with photo and documents.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463040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64608" y="1728216"/>
            <a:ext cx="109728" cy="109728"/>
          </a:xfrm>
          <a:prstGeom prst="ellipse">
            <a:avLst/>
          </a:prstGeom>
          <a:solidFill>
            <a:srgbClr val="3457D5"/>
          </a:solidFill>
          <a:ln/>
        </p:spPr>
      </p:sp>
      <p:sp>
        <p:nvSpPr>
          <p:cNvPr id="14" name="Text 12"/>
          <p:cNvSpPr/>
          <p:nvPr/>
        </p:nvSpPr>
        <p:spPr>
          <a:xfrm>
            <a:off x="5093208" y="15179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Admission &amp; Roll Numbers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93208" y="17465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 admission number generation and class-section allocation.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185416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450592"/>
            <a:ext cx="109728" cy="109728"/>
          </a:xfrm>
          <a:prstGeom prst="ellipse">
            <a:avLst/>
          </a:prstGeom>
          <a:solidFill>
            <a:srgbClr val="3457D5"/>
          </a:solidFill>
          <a:ln/>
        </p:spPr>
      </p:sp>
      <p:sp>
        <p:nvSpPr>
          <p:cNvPr id="18" name="Text 16"/>
          <p:cNvSpPr/>
          <p:nvPr/>
        </p:nvSpPr>
        <p:spPr>
          <a:xfrm>
            <a:off x="886968" y="224028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Sibling Merge &amp; Approval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86968" y="2468880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Detects siblings, links families and routes the merge for approval.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185416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4608" y="2450592"/>
            <a:ext cx="109728" cy="109728"/>
          </a:xfrm>
          <a:prstGeom prst="ellipse">
            <a:avLst/>
          </a:prstGeom>
          <a:solidFill>
            <a:srgbClr val="3457D5"/>
          </a:solidFill>
          <a:ln/>
        </p:spPr>
      </p:sp>
      <p:sp>
        <p:nvSpPr>
          <p:cNvPr id="22" name="Text 20"/>
          <p:cNvSpPr/>
          <p:nvPr/>
        </p:nvSpPr>
        <p:spPr>
          <a:xfrm>
            <a:off x="5093208" y="224028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Directory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93208" y="2468880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staff profiles - designation, qualification, subjects handled and contact.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2907792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3172968"/>
            <a:ext cx="109728" cy="109728"/>
          </a:xfrm>
          <a:prstGeom prst="ellipse">
            <a:avLst/>
          </a:prstGeom>
          <a:solidFill>
            <a:srgbClr val="3457D5"/>
          </a:solidFill>
          <a:ln/>
        </p:spPr>
      </p:sp>
      <p:sp>
        <p:nvSpPr>
          <p:cNvPr id="26" name="Text 24"/>
          <p:cNvSpPr/>
          <p:nvPr/>
        </p:nvSpPr>
        <p:spPr>
          <a:xfrm>
            <a:off x="886968" y="296265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Promotion &amp; Transfer Certificate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6968" y="3191256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Year-end promotion to the next grade and TC issue with records.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3721608"/>
            <a:ext cx="8138160" cy="438912"/>
          </a:xfrm>
          <a:prstGeom prst="roundRect">
            <a:avLst>
              <a:gd name="adj" fmla="val 12500"/>
            </a:avLst>
          </a:prstGeom>
          <a:solidFill>
            <a:srgbClr val="3457D5">
              <a:alpha val="7000"/>
            </a:srgbClr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372160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57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value:   </a:t>
            </a:r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clean master database that every other module reads from - no duplicate data entry anywhere.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SchoolMate  |  Profile Management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138160" y="487375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8600B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017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8600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03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Communication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official channel between the school, teachers, parents and students.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903720" y="25603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 w="9525">
            <a:solidFill>
              <a:srgbClr val="0087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0" y="2560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719072"/>
            <a:ext cx="109728" cy="109728"/>
          </a:xfrm>
          <a:prstGeom prst="ellipse">
            <a:avLst/>
          </a:prstGeom>
          <a:solidFill>
            <a:srgbClr val="8600BB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15179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News &amp; Circulars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86968" y="17465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Rich-text posts with attachments, targeted to selected classes or to all.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4630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64608" y="1719072"/>
            <a:ext cx="109728" cy="109728"/>
          </a:xfrm>
          <a:prstGeom prst="ellipse">
            <a:avLst/>
          </a:prstGeom>
          <a:solidFill>
            <a:srgbClr val="8600BB"/>
          </a:solidFill>
          <a:ln/>
        </p:spPr>
      </p:sp>
      <p:sp>
        <p:nvSpPr>
          <p:cNvPr id="14" name="Text 12"/>
          <p:cNvSpPr/>
          <p:nvPr/>
        </p:nvSpPr>
        <p:spPr>
          <a:xfrm>
            <a:off x="5093208" y="15179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Messages &amp; Live Chat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93208" y="17465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messaging plus real-time chat powered by SignalR.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1488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404872"/>
            <a:ext cx="109728" cy="109728"/>
          </a:xfrm>
          <a:prstGeom prst="ellipse">
            <a:avLst/>
          </a:prstGeom>
          <a:solidFill>
            <a:srgbClr val="8600BB"/>
          </a:solidFill>
          <a:ln/>
        </p:spPr>
      </p:sp>
      <p:sp>
        <p:nvSpPr>
          <p:cNvPr id="18" name="Text 16"/>
          <p:cNvSpPr/>
          <p:nvPr/>
        </p:nvSpPr>
        <p:spPr>
          <a:xfrm>
            <a:off x="886968" y="22037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Homework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86968" y="24323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homework posted subject-wise with due dates and attachments.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1488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4608" y="2404872"/>
            <a:ext cx="109728" cy="109728"/>
          </a:xfrm>
          <a:prstGeom prst="ellipse">
            <a:avLst/>
          </a:prstGeom>
          <a:solidFill>
            <a:srgbClr val="8600BB"/>
          </a:solidFill>
          <a:ln/>
        </p:spPr>
      </p:sp>
      <p:sp>
        <p:nvSpPr>
          <p:cNvPr id="22" name="Text 20"/>
          <p:cNvSpPr/>
          <p:nvPr/>
        </p:nvSpPr>
        <p:spPr>
          <a:xfrm>
            <a:off x="5093208" y="22037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Tables &amp; Exam Schedules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93208" y="24323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and teacher timetables plus exam timetables published to parents.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28346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3090672"/>
            <a:ext cx="109728" cy="109728"/>
          </a:xfrm>
          <a:prstGeom prst="ellipse">
            <a:avLst/>
          </a:prstGeom>
          <a:solidFill>
            <a:srgbClr val="8600BB"/>
          </a:solidFill>
          <a:ln/>
        </p:spPr>
      </p:sp>
      <p:sp>
        <p:nvSpPr>
          <p:cNvPr id="26" name="Text 24"/>
          <p:cNvSpPr/>
          <p:nvPr/>
        </p:nvSpPr>
        <p:spPr>
          <a:xfrm>
            <a:off x="886968" y="28895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Marks &amp; Results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6968" y="31181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 entry per exam, result generation and publication to parents.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28346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64608" y="3090672"/>
            <a:ext cx="109728" cy="109728"/>
          </a:xfrm>
          <a:prstGeom prst="ellipse">
            <a:avLst/>
          </a:prstGeom>
          <a:solidFill>
            <a:srgbClr val="8600BB"/>
          </a:solidFill>
          <a:ln/>
        </p:spPr>
      </p:sp>
      <p:sp>
        <p:nvSpPr>
          <p:cNvPr id="30" name="Text 28"/>
          <p:cNvSpPr/>
          <p:nvPr/>
        </p:nvSpPr>
        <p:spPr>
          <a:xfrm>
            <a:off x="5093208" y="28895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Attendance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93208" y="31181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attendance marking, irregular attendee reports and Excel export.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35204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" y="3776472"/>
            <a:ext cx="109728" cy="109728"/>
          </a:xfrm>
          <a:prstGeom prst="ellipse">
            <a:avLst/>
          </a:prstGeom>
          <a:solidFill>
            <a:srgbClr val="8600BB"/>
          </a:solidFill>
          <a:ln/>
        </p:spPr>
      </p:sp>
      <p:sp>
        <p:nvSpPr>
          <p:cNvPr id="34" name="Text 32"/>
          <p:cNvSpPr/>
          <p:nvPr/>
        </p:nvSpPr>
        <p:spPr>
          <a:xfrm>
            <a:off x="886968" y="35753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 Forms &amp; Feedback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86968" y="38039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consent with collected responses, and feedback surveys.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35204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64608" y="3776472"/>
            <a:ext cx="109728" cy="109728"/>
          </a:xfrm>
          <a:prstGeom prst="ellipse">
            <a:avLst/>
          </a:prstGeom>
          <a:solidFill>
            <a:srgbClr val="8600BB"/>
          </a:solidFill>
          <a:ln/>
        </p:spPr>
      </p:sp>
      <p:sp>
        <p:nvSpPr>
          <p:cNvPr id="38" name="Text 36"/>
          <p:cNvSpPr/>
          <p:nvPr/>
        </p:nvSpPr>
        <p:spPr>
          <a:xfrm>
            <a:off x="5093208" y="35753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Study Materials &amp; Calendar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093208" y="38039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Folder-wise resources, school calendar and important events.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2920" y="4297680"/>
            <a:ext cx="8138160" cy="438912"/>
          </a:xfrm>
          <a:prstGeom prst="roundRect">
            <a:avLst>
              <a:gd name="adj" fmla="val 12500"/>
            </a:avLst>
          </a:prstGeom>
          <a:solidFill>
            <a:srgbClr val="8600BB">
              <a:alpha val="7000"/>
            </a:srgbClr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4297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00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value:   </a:t>
            </a:r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message is official, targeted and trackable - it replaces the WhatsApp group entirely.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SchoolMate  |  Communication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138160" y="487375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875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017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04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Academics &amp; Digital Library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curriculum structure and the school's digital book library.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903720" y="25603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0" y="2560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DEVELOPMENT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728216"/>
            <a:ext cx="109728" cy="109728"/>
          </a:xfrm>
          <a:prstGeom prst="ellipse">
            <a:avLst/>
          </a:prstGeom>
          <a:solidFill>
            <a:srgbClr val="00875A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15179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Books Library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86968" y="17465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Subject-wise digital books organised by grade and academic year.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463040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64608" y="1728216"/>
            <a:ext cx="109728" cy="109728"/>
          </a:xfrm>
          <a:prstGeom prst="ellipse">
            <a:avLst/>
          </a:prstGeom>
          <a:solidFill>
            <a:srgbClr val="00875A"/>
          </a:solidFill>
          <a:ln/>
        </p:spPr>
      </p:sp>
      <p:sp>
        <p:nvSpPr>
          <p:cNvPr id="14" name="Text 12"/>
          <p:cNvSpPr/>
          <p:nvPr/>
        </p:nvSpPr>
        <p:spPr>
          <a:xfrm>
            <a:off x="5093208" y="15179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Management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93208" y="17465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book split into chapters with content, media and page ranges.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185416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450592"/>
            <a:ext cx="109728" cy="109728"/>
          </a:xfrm>
          <a:prstGeom prst="ellipse">
            <a:avLst/>
          </a:prstGeom>
          <a:solidFill>
            <a:srgbClr val="00875A"/>
          </a:solidFill>
          <a:ln/>
        </p:spPr>
      </p:sp>
      <p:sp>
        <p:nvSpPr>
          <p:cNvPr id="18" name="Text 16"/>
          <p:cNvSpPr/>
          <p:nvPr/>
        </p:nvSpPr>
        <p:spPr>
          <a:xfrm>
            <a:off x="886968" y="224028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 Upload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86968" y="2468880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and publish new books with live progress tracking.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185416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4608" y="2450592"/>
            <a:ext cx="109728" cy="109728"/>
          </a:xfrm>
          <a:prstGeom prst="ellipse">
            <a:avLst/>
          </a:prstGeom>
          <a:solidFill>
            <a:srgbClr val="00875A"/>
          </a:solidFill>
          <a:ln/>
        </p:spPr>
      </p:sp>
      <p:sp>
        <p:nvSpPr>
          <p:cNvPr id="22" name="Text 20"/>
          <p:cNvSpPr/>
          <p:nvPr/>
        </p:nvSpPr>
        <p:spPr>
          <a:xfrm>
            <a:off x="5093208" y="224028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 &amp; Class Master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93208" y="2468880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subjects, classes and sections used across all modules.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2907792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3172968"/>
            <a:ext cx="109728" cy="109728"/>
          </a:xfrm>
          <a:prstGeom prst="ellipse">
            <a:avLst/>
          </a:prstGeom>
          <a:solidFill>
            <a:srgbClr val="00875A"/>
          </a:solidFill>
          <a:ln/>
        </p:spPr>
      </p:sp>
      <p:sp>
        <p:nvSpPr>
          <p:cNvPr id="26" name="Text 24"/>
          <p:cNvSpPr/>
          <p:nvPr/>
        </p:nvSpPr>
        <p:spPr>
          <a:xfrm>
            <a:off x="886968" y="296265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Year Setup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6968" y="3191256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Open, switch and lock academic years - all data is year-scoped.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2907792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64608" y="3172968"/>
            <a:ext cx="109728" cy="109728"/>
          </a:xfrm>
          <a:prstGeom prst="ellipse">
            <a:avLst/>
          </a:prstGeom>
          <a:solidFill>
            <a:srgbClr val="00875A"/>
          </a:solidFill>
          <a:ln/>
        </p:spPr>
      </p:sp>
      <p:sp>
        <p:nvSpPr>
          <p:cNvPr id="30" name="Text 28"/>
          <p:cNvSpPr/>
          <p:nvPr/>
        </p:nvSpPr>
        <p:spPr>
          <a:xfrm>
            <a:off x="5093208" y="296265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 Master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93208" y="3191256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 exam types and terms that marks and timetables refer to.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3721608"/>
            <a:ext cx="8138160" cy="438912"/>
          </a:xfrm>
          <a:prstGeom prst="roundRect">
            <a:avLst>
              <a:gd name="adj" fmla="val 12500"/>
            </a:avLst>
          </a:prstGeom>
          <a:solidFill>
            <a:srgbClr val="00875A">
              <a:alpha val="7000"/>
            </a:srgbClr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372160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value:   </a:t>
            </a:r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academic backbone - marks, homework and question papers all read this structure.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SchoolMate  |  Academics &amp; Digital Library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138160" y="487375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017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05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Assessment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paper generation and online quizzes, from blueprint to result.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903720" y="25603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0" y="2560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DEVELOPMENT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728216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15179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Bank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86968" y="17465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Reusable questions tagged by subject, chapter, type and difficulty.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463040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64608" y="1728216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5093208" y="15179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Pattern Builder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93208" y="17465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the blueprint - sections, marks split and question counts.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185416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450592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886968" y="224028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Creation Wizard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86968" y="2468880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by step: basic details, chapters, questions, then preview.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185416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4608" y="2450592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5093208" y="224028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Print-Ready Preview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93208" y="2468880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School-branded templates exported as PDF, ready for printing.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2907792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3172968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886968" y="296265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Quiz (Azure OpenAI)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6968" y="3191256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AI-assisted question generation, timed delivery, auto-evaluation.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2907792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64608" y="3172968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0" name="Text 28"/>
          <p:cNvSpPr/>
          <p:nvPr/>
        </p:nvSpPr>
        <p:spPr>
          <a:xfrm>
            <a:off x="5093208" y="296265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&amp; Analysis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93208" y="3191256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Papers routed to the HOD for approval; quiz analysis shows performance.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3721608"/>
            <a:ext cx="8138160" cy="438912"/>
          </a:xfrm>
          <a:prstGeom prst="roundRect">
            <a:avLst>
              <a:gd name="adj" fmla="val 12500"/>
            </a:avLst>
          </a:prstGeom>
          <a:solidFill>
            <a:srgbClr val="FF6B35">
              <a:alpha val="7000"/>
            </a:srgbClr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372160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value:   </a:t>
            </a:r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three-hour manual task becomes a five-minute guided workflow with zero pattern errors.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SchoolMate  |  Assessment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138160" y="487375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017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00AC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06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 &amp; Finance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complete money flow of the school - structure, collection and reporting.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903720" y="25603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 w="9525">
            <a:solidFill>
              <a:srgbClr val="0087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0" y="2560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719072"/>
            <a:ext cx="109728" cy="109728"/>
          </a:xfrm>
          <a:prstGeom prst="ellipse">
            <a:avLst/>
          </a:prstGeom>
          <a:solidFill>
            <a:srgbClr val="00ACC1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15179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 Dashboard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86968" y="17465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Revenue, collected today, pending dues and grade-wise collection progress.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4630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64608" y="1719072"/>
            <a:ext cx="109728" cy="109728"/>
          </a:xfrm>
          <a:prstGeom prst="ellipse">
            <a:avLst/>
          </a:prstGeom>
          <a:solidFill>
            <a:srgbClr val="00ACC1"/>
          </a:solidFill>
          <a:ln/>
        </p:spPr>
      </p:sp>
      <p:sp>
        <p:nvSpPr>
          <p:cNvPr id="14" name="Text 12"/>
          <p:cNvSpPr/>
          <p:nvPr/>
        </p:nvSpPr>
        <p:spPr>
          <a:xfrm>
            <a:off x="5093208" y="15179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 Structure Creation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93208" y="17465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fee, transport fee, ECA fee and additional fees, per grade.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1488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404872"/>
            <a:ext cx="109728" cy="109728"/>
          </a:xfrm>
          <a:prstGeom prst="ellipse">
            <a:avLst/>
          </a:prstGeom>
          <a:solidFill>
            <a:srgbClr val="00ACC1"/>
          </a:solidFill>
          <a:ln/>
        </p:spPr>
      </p:sp>
      <p:sp>
        <p:nvSpPr>
          <p:cNvPr id="18" name="Text 16"/>
          <p:cNvSpPr/>
          <p:nvPr/>
        </p:nvSpPr>
        <p:spPr>
          <a:xfrm>
            <a:off x="886968" y="22037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 &amp; Online Payment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86968" y="24323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Counter billing, part payments, and parents paying in-app with instant receipts.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1488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4608" y="2404872"/>
            <a:ext cx="109728" cy="109728"/>
          </a:xfrm>
          <a:prstGeom prst="ellipse">
            <a:avLst/>
          </a:prstGeom>
          <a:solidFill>
            <a:srgbClr val="00ACC1"/>
          </a:solidFill>
          <a:ln/>
        </p:spPr>
      </p:sp>
      <p:sp>
        <p:nvSpPr>
          <p:cNvPr id="22" name="Text 20"/>
          <p:cNvSpPr/>
          <p:nvPr/>
        </p:nvSpPr>
        <p:spPr>
          <a:xfrm>
            <a:off x="5093208" y="22037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Concession Management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93208" y="24323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concessions, assign them to students, with a full concession log.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28346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3090672"/>
            <a:ext cx="109728" cy="109728"/>
          </a:xfrm>
          <a:prstGeom prst="ellipse">
            <a:avLst/>
          </a:prstGeom>
          <a:solidFill>
            <a:srgbClr val="00ACC1"/>
          </a:solidFill>
          <a:ln/>
        </p:spPr>
      </p:sp>
      <p:sp>
        <p:nvSpPr>
          <p:cNvPr id="26" name="Text 24"/>
          <p:cNvSpPr/>
          <p:nvPr/>
        </p:nvSpPr>
        <p:spPr>
          <a:xfrm>
            <a:off x="886968" y="28895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ECA &amp; Extra-Curricular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6968" y="31181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Activity-wise fees with student enrolment and removal tracking.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28346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64608" y="3090672"/>
            <a:ext cx="109728" cy="109728"/>
          </a:xfrm>
          <a:prstGeom prst="ellipse">
            <a:avLst/>
          </a:prstGeom>
          <a:solidFill>
            <a:srgbClr val="00ACC1"/>
          </a:solidFill>
          <a:ln/>
        </p:spPr>
      </p:sp>
      <p:sp>
        <p:nvSpPr>
          <p:cNvPr id="30" name="Text 28"/>
          <p:cNvSpPr/>
          <p:nvPr/>
        </p:nvSpPr>
        <p:spPr>
          <a:xfrm>
            <a:off x="5093208" y="28895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Transport Fee Mapping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93208" y="31181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Route-based fee applied automatically to mapped students.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35204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" y="3776472"/>
            <a:ext cx="109728" cy="109728"/>
          </a:xfrm>
          <a:prstGeom prst="ellipse">
            <a:avLst/>
          </a:prstGeom>
          <a:solidFill>
            <a:srgbClr val="00ACC1"/>
          </a:solidFill>
          <a:ln/>
        </p:spPr>
      </p:sp>
      <p:sp>
        <p:nvSpPr>
          <p:cNvPr id="34" name="Text 32"/>
          <p:cNvSpPr/>
          <p:nvPr/>
        </p:nvSpPr>
        <p:spPr>
          <a:xfrm>
            <a:off x="886968" y="35753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 History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86968" y="38039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payment searchable by status, mode and reference number.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35204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64608" y="3776472"/>
            <a:ext cx="109728" cy="109728"/>
          </a:xfrm>
          <a:prstGeom prst="ellipse">
            <a:avLst/>
          </a:prstGeom>
          <a:solidFill>
            <a:srgbClr val="00ACC1"/>
          </a:solidFill>
          <a:ln/>
        </p:spPr>
      </p:sp>
      <p:sp>
        <p:nvSpPr>
          <p:cNvPr id="38" name="Text 36"/>
          <p:cNvSpPr/>
          <p:nvPr/>
        </p:nvSpPr>
        <p:spPr>
          <a:xfrm>
            <a:off x="5093208" y="35753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&amp; Expense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093208" y="38039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Collection reports, expense entry and Excel / PDF export.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2920" y="4297680"/>
            <a:ext cx="8138160" cy="438912"/>
          </a:xfrm>
          <a:prstGeom prst="roundRect">
            <a:avLst>
              <a:gd name="adj" fmla="val 12500"/>
            </a:avLst>
          </a:prstGeom>
          <a:solidFill>
            <a:srgbClr val="00ACC1">
              <a:alpha val="7000"/>
            </a:srgbClr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4297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C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value:   </a:t>
            </a:r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Zero-leakage fee collection, with an auditable trail behind every single rupee.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SchoolMate  |  Fee &amp; Finance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138160" y="487375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017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00AC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MONEY FLOW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a Fee Is Collected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the fee structure to the receipt, with both payment channels landing in the same ledger.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146304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5875">
            <a:solidFill>
              <a:srgbClr val="00AC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36192"/>
            <a:ext cx="1463040" cy="4572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459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 Structure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18836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Defined per grade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002536" y="1883664"/>
            <a:ext cx="13258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71700" y="1536192"/>
            <a:ext cx="146304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5875">
            <a:solidFill>
              <a:srgbClr val="3457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71700" y="1536192"/>
            <a:ext cx="1463040" cy="45720"/>
          </a:xfrm>
          <a:prstGeom prst="rect">
            <a:avLst/>
          </a:prstGeom>
          <a:solidFill>
            <a:srgbClr val="3457D5"/>
          </a:solidFill>
          <a:ln/>
        </p:spPr>
      </p:sp>
      <p:sp>
        <p:nvSpPr>
          <p:cNvPr id="13" name="Text 11"/>
          <p:cNvSpPr/>
          <p:nvPr/>
        </p:nvSpPr>
        <p:spPr>
          <a:xfrm>
            <a:off x="2217420" y="16459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Mapped to Student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17420" y="18836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Concessions applied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671316" y="1883664"/>
            <a:ext cx="13258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840480" y="1536192"/>
            <a:ext cx="146304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5875">
            <a:solidFill>
              <a:srgbClr val="8600B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0" y="1536192"/>
            <a:ext cx="1463040" cy="45720"/>
          </a:xfrm>
          <a:prstGeom prst="rect">
            <a:avLst/>
          </a:prstGeom>
          <a:solidFill>
            <a:srgbClr val="8600BB"/>
          </a:solidFill>
          <a:ln/>
        </p:spPr>
      </p:sp>
      <p:sp>
        <p:nvSpPr>
          <p:cNvPr id="18" name="Text 16"/>
          <p:cNvSpPr/>
          <p:nvPr/>
        </p:nvSpPr>
        <p:spPr>
          <a:xfrm>
            <a:off x="3886200" y="16459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 Generated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86200" y="18836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+ transport + ECA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340096" y="1883664"/>
            <a:ext cx="13258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509260" y="1536192"/>
            <a:ext cx="146304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5875">
            <a:solidFill>
              <a:srgbClr val="FF6B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09260" y="1536192"/>
            <a:ext cx="146304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5554980" y="16459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Received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554980" y="18836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or part payment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008876" y="1883664"/>
            <a:ext cx="13258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178040" y="1536192"/>
            <a:ext cx="146304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5875">
            <a:solidFill>
              <a:srgbClr val="0087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78040" y="1536192"/>
            <a:ext cx="1463040" cy="45720"/>
          </a:xfrm>
          <a:prstGeom prst="rect">
            <a:avLst/>
          </a:prstGeom>
          <a:solidFill>
            <a:srgbClr val="00875A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0" y="16459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Receipt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223760" y="18836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Issued automatically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572000" y="2249424"/>
            <a:ext cx="0" cy="384048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2377440" y="2670048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CHANNELS SATISFY STEP 4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691640" y="2980944"/>
            <a:ext cx="256032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5875">
            <a:solidFill>
              <a:srgbClr val="3457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37360" y="306324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57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 Counter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737360" y="328269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Cash, card or UPI at the school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892040" y="2980944"/>
            <a:ext cx="256032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306324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Mobile App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37760" y="328269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Paid in-app by the parent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02920" y="3858768"/>
            <a:ext cx="8138160" cy="566928"/>
          </a:xfrm>
          <a:prstGeom prst="roundRect">
            <a:avLst>
              <a:gd name="adj" fmla="val 11290"/>
            </a:avLst>
          </a:prstGeom>
          <a:solidFill>
            <a:srgbClr val="F0FAFB"/>
          </a:solidFill>
          <a:ln w="12700">
            <a:solidFill>
              <a:srgbClr val="B8E6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3858768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3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channels write to one ledger.   </a:t>
            </a:r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payment appears in Transaction History and on the Finance Dashboard the moment it is made - no reconciliation at day end.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02920" y="449884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Concessions, ECA and transport fees all fold into the same bill, so a parent pays once.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SchoolMate  |  How a Fee Is Collected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138160" y="487375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D946A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017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D94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07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&amp; Payroll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attendance, leave and salary processing in one connected flow.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903720" y="25603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 w="9525">
            <a:solidFill>
              <a:srgbClr val="0087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0" y="2560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719072"/>
            <a:ext cx="109728" cy="109728"/>
          </a:xfrm>
          <a:prstGeom prst="ellipse">
            <a:avLst/>
          </a:prstGeom>
          <a:solidFill>
            <a:srgbClr val="D946A0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15179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Attendance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86968" y="17465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marking, plus biometric device mapping and user enrolment.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4630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64608" y="1719072"/>
            <a:ext cx="109728" cy="109728"/>
          </a:xfrm>
          <a:prstGeom prst="ellipse">
            <a:avLst/>
          </a:prstGeom>
          <a:solidFill>
            <a:srgbClr val="D946A0"/>
          </a:solidFill>
          <a:ln/>
        </p:spPr>
      </p:sp>
      <p:sp>
        <p:nvSpPr>
          <p:cNvPr id="14" name="Text 12"/>
          <p:cNvSpPr/>
          <p:nvPr/>
        </p:nvSpPr>
        <p:spPr>
          <a:xfrm>
            <a:off x="5093208" y="15179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Application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93208" y="17465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apply online and track status; approvers act from their own queue.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1488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404872"/>
            <a:ext cx="109728" cy="109728"/>
          </a:xfrm>
          <a:prstGeom prst="ellipse">
            <a:avLst/>
          </a:prstGeom>
          <a:solidFill>
            <a:srgbClr val="D946A0"/>
          </a:solidFill>
          <a:ln/>
        </p:spPr>
      </p:sp>
      <p:sp>
        <p:nvSpPr>
          <p:cNvPr id="18" name="Text 16"/>
          <p:cNvSpPr/>
          <p:nvPr/>
        </p:nvSpPr>
        <p:spPr>
          <a:xfrm>
            <a:off x="886968" y="22037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Policy Master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86968" y="24323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types, entitlements and carry-forward rules defined per role.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1488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4608" y="2404872"/>
            <a:ext cx="109728" cy="109728"/>
          </a:xfrm>
          <a:prstGeom prst="ellipse">
            <a:avLst/>
          </a:prstGeom>
          <a:solidFill>
            <a:srgbClr val="D946A0"/>
          </a:solidFill>
          <a:ln/>
        </p:spPr>
      </p:sp>
      <p:sp>
        <p:nvSpPr>
          <p:cNvPr id="22" name="Text 20"/>
          <p:cNvSpPr/>
          <p:nvPr/>
        </p:nvSpPr>
        <p:spPr>
          <a:xfrm>
            <a:off x="5093208" y="22037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Workflow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93208" y="24323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Multi-level routing - reporting head, then HR, then management.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28346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3090672"/>
            <a:ext cx="109728" cy="109728"/>
          </a:xfrm>
          <a:prstGeom prst="ellipse">
            <a:avLst/>
          </a:prstGeom>
          <a:solidFill>
            <a:srgbClr val="D946A0"/>
          </a:solidFill>
          <a:ln/>
        </p:spPr>
      </p:sp>
      <p:sp>
        <p:nvSpPr>
          <p:cNvPr id="26" name="Text 24"/>
          <p:cNvSpPr/>
          <p:nvPr/>
        </p:nvSpPr>
        <p:spPr>
          <a:xfrm>
            <a:off x="886968" y="28895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Salary Structures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6968" y="31181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Earnings and deduction heads configured per designation.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28346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64608" y="3090672"/>
            <a:ext cx="109728" cy="109728"/>
          </a:xfrm>
          <a:prstGeom prst="ellipse">
            <a:avLst/>
          </a:prstGeom>
          <a:solidFill>
            <a:srgbClr val="D946A0"/>
          </a:solidFill>
          <a:ln/>
        </p:spPr>
      </p:sp>
      <p:sp>
        <p:nvSpPr>
          <p:cNvPr id="30" name="Text 28"/>
          <p:cNvSpPr/>
          <p:nvPr/>
        </p:nvSpPr>
        <p:spPr>
          <a:xfrm>
            <a:off x="5093208" y="28895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Processing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93208" y="31181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Generate, review and approve payroll, then salary credit and register.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35204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" y="3776472"/>
            <a:ext cx="109728" cy="109728"/>
          </a:xfrm>
          <a:prstGeom prst="ellipse">
            <a:avLst/>
          </a:prstGeom>
          <a:solidFill>
            <a:srgbClr val="D946A0"/>
          </a:solidFill>
          <a:ln/>
        </p:spPr>
      </p:sp>
      <p:sp>
        <p:nvSpPr>
          <p:cNvPr id="34" name="Text 32"/>
          <p:cNvSpPr/>
          <p:nvPr/>
        </p:nvSpPr>
        <p:spPr>
          <a:xfrm>
            <a:off x="886968" y="35753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 &amp; Compliance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86968" y="38039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 detail management, bank reports and statutory compliance.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35204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64608" y="3776472"/>
            <a:ext cx="109728" cy="109728"/>
          </a:xfrm>
          <a:prstGeom prst="ellipse">
            <a:avLst/>
          </a:prstGeom>
          <a:solidFill>
            <a:srgbClr val="D946A0"/>
          </a:solidFill>
          <a:ln/>
        </p:spPr>
      </p:sp>
      <p:sp>
        <p:nvSpPr>
          <p:cNvPr id="38" name="Text 36"/>
          <p:cNvSpPr/>
          <p:nvPr/>
        </p:nvSpPr>
        <p:spPr>
          <a:xfrm>
            <a:off x="5093208" y="35753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Coverage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093208" y="38039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Controls who is eligible for payroll and attendance, with reports.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2920" y="4297680"/>
            <a:ext cx="8138160" cy="438912"/>
          </a:xfrm>
          <a:prstGeom prst="roundRect">
            <a:avLst>
              <a:gd name="adj" fmla="val 12500"/>
            </a:avLst>
          </a:prstGeom>
          <a:solidFill>
            <a:srgbClr val="D946A0">
              <a:alpha val="7000"/>
            </a:srgbClr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4297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4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value:   </a:t>
            </a:r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Attendance flows straight into payroll - no re-keying and no month-end spreadsheet chaos.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SchoolMate  |  Leave &amp; Payroll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138160" y="487375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017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08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Transport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school fleet, its routes, and the students who travel on them.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903720" y="25603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 w="9525">
            <a:solidFill>
              <a:srgbClr val="0087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0" y="2560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728216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15179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Vehicle Management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86968" y="17465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and maintain each bus - registration, capacity and documents.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463040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64608" y="1728216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093208" y="15179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Safety &amp; Compliance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93208" y="17465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Insurance, FC, permit and pollution certificate expiry tracking.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185416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45059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886968" y="224028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Management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86968" y="2468880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Routes with ordered stops, timings and an assigned vehicle.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185416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4608" y="245059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093208" y="224028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Mapping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93208" y="2468880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 students to a route and stop - this drives the transport fee.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2907792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317296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886968" y="296265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 &amp; Staff Assignment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6968" y="3191256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 driver and attender per vehicle with contact details.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2907792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64608" y="3172968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0" name="Text 28"/>
          <p:cNvSpPr/>
          <p:nvPr/>
        </p:nvSpPr>
        <p:spPr>
          <a:xfrm>
            <a:off x="5093208" y="296265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Maps Integration</a:t>
            </a:r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PLANNED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93208" y="3191256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Plotting every route stop on Google Maps - next up for Transport.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3721608"/>
            <a:ext cx="8138160" cy="438912"/>
          </a:xfrm>
          <a:prstGeom prst="roundRect">
            <a:avLst>
              <a:gd name="adj" fmla="val 12500"/>
            </a:avLst>
          </a:prstGeom>
          <a:solidFill>
            <a:srgbClr val="F59E0B">
              <a:alpha val="7000"/>
            </a:srgbClr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372160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value:   </a:t>
            </a:r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school always knows which child is on which bus, and no document expires unnoticed.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SchoolMate  |  Transport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138160" y="487375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017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09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Assets &amp; Inventory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 scope - the menu and access rules are in place; the screens are not yet built.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903720" y="25603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0" y="2560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728216"/>
            <a:ext cx="109728" cy="10972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15179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Asset Register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86968" y="17465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Planned: central record of furniture, IT, lab and sports assets.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463040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64608" y="1728216"/>
            <a:ext cx="109728" cy="10972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5093208" y="15179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Asset Allocation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93208" y="17465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Planned: which asset sits in which block, room or department.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185416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450592"/>
            <a:ext cx="109728" cy="10972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886968" y="224028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&amp; Stock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86968" y="2468880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Planned: consumable stock levels with issue and receipt entries.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185416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4608" y="2450592"/>
            <a:ext cx="109728" cy="10972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5093208" y="224028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Maintenance Tracking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93208" y="2468880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Planned: service history and condition status per asset.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2907792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3172968"/>
            <a:ext cx="109728" cy="10972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886968" y="296265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Already delivered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6968" y="3191256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Transport assets - vehicles, safety and compliance - are live today.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2907792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64608" y="3172968"/>
            <a:ext cx="109728" cy="10972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5093208" y="296265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Control ready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93208" y="3191256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Purchase and inventory permission keys already exist in the system.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3721608"/>
            <a:ext cx="8138160" cy="438912"/>
          </a:xfrm>
          <a:prstGeom prst="roundRect">
            <a:avLst>
              <a:gd name="adj" fmla="val 12500"/>
            </a:avLst>
          </a:prstGeom>
          <a:solidFill>
            <a:srgbClr val="6366F1">
              <a:alpha val="7000"/>
            </a:srgbClr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372160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value:   </a:t>
            </a:r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Scoped and permission-ready. Vehicle and safety asset tracking is already running under Transport.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SchoolMate  |  Assets &amp; Inventory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138160" y="487375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017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10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Complaints &amp; Grievance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formal, time-bound grievance system for parents and for staff.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903720" y="25603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0" y="2560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DEVELOPMENT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71907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15179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Complaint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86968" y="17465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parent or staff member raises an issue under a defined category.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4630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64608" y="171907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5093208" y="15179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 Master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93208" y="17465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Categories and sub-categories, each with its own owner and priority.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1488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40487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886968" y="22037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Assignment Mapping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86968" y="24323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that auto-assign a complaint to the right department.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1488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4608" y="240487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5093208" y="22037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Configuration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93208" y="24323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Response and resolution deadlines defined for each category.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28346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309067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886968" y="28895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Escalation Rules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6968" y="31181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breach of SLA escalates automatically to the next level.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28346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64608" y="309067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5093208" y="28895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Work Queue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93208" y="31181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staff member sees only the complaints assigned to them.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35204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" y="377647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886968" y="35753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Timeline &amp; Status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86968" y="38039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history - raised, assigned, in progress, resolved, closed.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35204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64608" y="377647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8" name="Text 36"/>
          <p:cNvSpPr/>
          <p:nvPr/>
        </p:nvSpPr>
        <p:spPr>
          <a:xfrm>
            <a:off x="5093208" y="35753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Log &amp; Templates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093208" y="38039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action logged, with notification templates for each stage.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2920" y="4297680"/>
            <a:ext cx="8138160" cy="438912"/>
          </a:xfrm>
          <a:prstGeom prst="roundRect">
            <a:avLst>
              <a:gd name="adj" fmla="val 12500"/>
            </a:avLst>
          </a:prstGeom>
          <a:solidFill>
            <a:srgbClr val="EF4444">
              <a:alpha val="7000"/>
            </a:srgbClr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4297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value:   </a:t>
            </a:r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Complaints stop disappearing - every issue has an owner, a deadline and a written trail.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SchoolMate  |  Complaints &amp; Grievance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138160" y="487375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017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Done &amp; My Projects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Teacher-level daily tracking, and each user's personal workspace.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903720" y="25603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 w="9525">
            <a:solidFill>
              <a:srgbClr val="0087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0" y="2560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728216"/>
            <a:ext cx="109728" cy="109728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15179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Done Register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86968" y="17465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Period-wise record of the topic actually taught in every class.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463040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64608" y="1728216"/>
            <a:ext cx="109728" cy="109728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5093208" y="15179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Timetable Grid View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93208" y="17465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Colour-coded grid showing periods, free periods and staff on leave.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185416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450592"/>
            <a:ext cx="109728" cy="109728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8" name="Text 16"/>
          <p:cNvSpPr/>
          <p:nvPr/>
        </p:nvSpPr>
        <p:spPr>
          <a:xfrm>
            <a:off x="886968" y="224028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Substitution Visibility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86968" y="2468880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Instantly shows which periods need a substitute teacher.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185416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4608" y="2450592"/>
            <a:ext cx="109728" cy="109728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22" name="Text 20"/>
          <p:cNvSpPr/>
          <p:nvPr/>
        </p:nvSpPr>
        <p:spPr>
          <a:xfrm>
            <a:off x="5093208" y="224028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Drafts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93208" y="2468880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Unpublished news, circulars, messages, feedback and consent forms.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2907792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3172968"/>
            <a:ext cx="109728" cy="109728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26" name="Text 24"/>
          <p:cNvSpPr/>
          <p:nvPr/>
        </p:nvSpPr>
        <p:spPr>
          <a:xfrm>
            <a:off x="886968" y="296265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Scheduled Posts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6968" y="3191256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queued to publish automatically on a chosen date and time.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2907792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64608" y="3172968"/>
            <a:ext cx="109728" cy="109728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30" name="Text 28"/>
          <p:cNvSpPr/>
          <p:nvPr/>
        </p:nvSpPr>
        <p:spPr>
          <a:xfrm>
            <a:off x="5093208" y="296265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Status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93208" y="3191256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what the user submitted and where it sits in the approval chain.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3721608"/>
            <a:ext cx="8138160" cy="438912"/>
          </a:xfrm>
          <a:prstGeom prst="roundRect">
            <a:avLst>
              <a:gd name="adj" fmla="val 12500"/>
            </a:avLst>
          </a:prstGeom>
          <a:solidFill>
            <a:srgbClr val="0284C7">
              <a:alpha val="7000"/>
            </a:srgbClr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372160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value:   </a:t>
            </a:r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supervision becomes evidence-based - the principal sees real syllabus coverage.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SchoolMate  |  Work Done &amp; My Projects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138160" y="487375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017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12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desk where every pending decision in the school waits for action.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903720" y="25603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 w="9525">
            <a:solidFill>
              <a:srgbClr val="0087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0" y="2560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728216"/>
            <a:ext cx="109728" cy="10972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15179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Approval Inbox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86968" y="17465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News, circulars, messages, homework and question papers in one queue.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463040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64608" y="1728216"/>
            <a:ext cx="109728" cy="10972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5093208" y="15179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Inline Review &amp; Edit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93208" y="17465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approver can correct content before approving - no send-backs.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185416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450592"/>
            <a:ext cx="109728" cy="10972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886968" y="224028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 Approvals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86968" y="2468880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 payments, additional fees, ECA and transport fee approvals.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185416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4608" y="2450592"/>
            <a:ext cx="109728" cy="10972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5093208" y="224028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Approvals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93208" y="2468880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leave and student leave requests routed to the right approver.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2907792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3172968"/>
            <a:ext cx="109728" cy="10972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886968" y="296265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Matrix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6968" y="3191256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Configurable multi-level chains, defined per module in Access Control.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2907792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64608" y="3172968"/>
            <a:ext cx="109728" cy="10972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0" name="Text 28"/>
          <p:cNvSpPr/>
          <p:nvPr/>
        </p:nvSpPr>
        <p:spPr>
          <a:xfrm>
            <a:off x="5093208" y="296265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/ Reject with Remarks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93208" y="3191256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decision carries a reason and a timestamped record.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3721608"/>
            <a:ext cx="8138160" cy="438912"/>
          </a:xfrm>
          <a:prstGeom prst="roundRect">
            <a:avLst>
              <a:gd name="adj" fmla="val 12500"/>
            </a:avLst>
          </a:prstGeom>
          <a:solidFill>
            <a:srgbClr val="0EA5E9">
              <a:alpha val="7000"/>
            </a:srgbClr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372160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value:   </a:t>
            </a:r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reaches a parent without passing the right desk - and every decision is on record.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SchoolMate  |  Approvals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138160" y="487375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017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13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Control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control room - who sees what, who can do what, and how the school is configured.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903720" y="25603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 w="9525">
            <a:solidFill>
              <a:srgbClr val="0087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0" y="2560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71907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15179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&amp; Permissions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86968" y="17465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roles and grant view / create / edit / delete per screen.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4630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64608" y="171907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5093208" y="15179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Permissions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93208" y="17465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Fine-grained rights, down to individual buttons and actions.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1488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40487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886968" y="22037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Access Config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86968" y="24323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Per-module setup for finance, leave, transport, approvals and inventory.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1488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4608" y="240487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5093208" y="22037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Management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93208" y="24323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users, map them to roles, activate and deactivate accounts.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28346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309067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886968" y="28895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 Management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6968" y="31181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Forced reset, policy enforcement and credential handling.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28346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64608" y="309067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5093208" y="28895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Activity Log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93208" y="31181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trail of logins and actions performed by each user.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35204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" y="377647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886968" y="35753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Flow Setup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86968" y="38039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who approves what, and in what order, for every module.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35204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64608" y="377647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5093208" y="35753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Setup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093208" y="38039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year, classes, sections, subjects, exams, promotion and TC.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2920" y="4297680"/>
            <a:ext cx="8138160" cy="438912"/>
          </a:xfrm>
          <a:prstGeom prst="roundRect">
            <a:avLst>
              <a:gd name="adj" fmla="val 12500"/>
            </a:avLst>
          </a:prstGeom>
          <a:solidFill>
            <a:srgbClr val="7C3AED">
              <a:alpha val="7000"/>
            </a:srgbClr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4297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value:   </a:t>
            </a:r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is enforced twice - the menu hides it, and RequirePermission blocks the URL itself.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SchoolMate  |  Access Control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138160" y="487375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017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COMPANION APP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Parent Mobile App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dedicated Flutter app for parents - one login, and only their own child's information.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903720" y="25603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 w="9525">
            <a:solidFill>
              <a:srgbClr val="0087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0" y="2560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719072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15179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Parent Login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86968" y="17465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parent sees strictly their own children's records and nothing else.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4630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64608" y="1719072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093208" y="15179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Child Profile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93208" y="17465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Their child's details, class and academic record in one place.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1488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404872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886968" y="22037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Marks &amp; Results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86968" y="24323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 marks and published results, as soon as the school releases them.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1488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4608" y="2404872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5093208" y="22037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Homework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93208" y="24323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homework with due dates and attachments, subject by subject.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28346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3090672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886968" y="28895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Communication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6968" y="31181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News, circulars, messages and announcements straight from the school.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28346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64608" y="3090672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5093208" y="28895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Fee Payment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93208" y="31181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Parents pay fees in the app and receive an instant receipt.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35204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" y="3776472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4" name="Text 32"/>
          <p:cNvSpPr/>
          <p:nvPr/>
        </p:nvSpPr>
        <p:spPr>
          <a:xfrm>
            <a:off x="886968" y="35753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Bus Tracking</a:t>
            </a:r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PLANNED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86968" y="38039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 the school bus on a live map with arrival alerts.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3520440"/>
            <a:ext cx="3977640" cy="621792"/>
          </a:xfrm>
          <a:prstGeom prst="roundRect">
            <a:avLst>
              <a:gd name="adj" fmla="val 8824"/>
            </a:avLst>
          </a:prstGeom>
          <a:solidFill>
            <a:srgbClr val="FAFB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64608" y="3776472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8" name="Text 36"/>
          <p:cNvSpPr/>
          <p:nvPr/>
        </p:nvSpPr>
        <p:spPr>
          <a:xfrm>
            <a:off x="5093208" y="35753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Notifications</a:t>
            </a:r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PLANNED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093208" y="38039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alerts for fees, attendance, homework and circulars.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2920" y="4297680"/>
            <a:ext cx="8138160" cy="438912"/>
          </a:xfrm>
          <a:prstGeom prst="roundRect">
            <a:avLst>
              <a:gd name="adj" fmla="val 12500"/>
            </a:avLst>
          </a:prstGeom>
          <a:solidFill>
            <a:srgbClr val="0D9488">
              <a:alpha val="7000"/>
            </a:srgbClr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4297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value:   </a:t>
            </a:r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in Flutter - one codebase for Android and iOS, sharing the same .NET APIs as the web platform.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SchoolMate  |  The Parent Mobile App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138160" y="487375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E3005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017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E300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COMES NEXT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&amp; Future Enhancements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SchoolMate goes from here.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8138160" cy="429768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45336"/>
            <a:ext cx="41148" cy="265176"/>
          </a:xfrm>
          <a:prstGeom prst="rect">
            <a:avLst/>
          </a:prstGeom>
          <a:solidFill>
            <a:srgbClr val="E30053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1463040"/>
            <a:ext cx="3108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the in-development modules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0" y="1463040"/>
            <a:ext cx="4572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Finish backend integration for Complaints, Question Papers and Books &amp; Chapters.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965960"/>
            <a:ext cx="8138160" cy="429768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048256"/>
            <a:ext cx="41148" cy="2651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" y="1965960"/>
            <a:ext cx="3108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Assets &amp; Inventory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1965960"/>
            <a:ext cx="4572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the asset register, stock control and maintenance tracking screens.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468880"/>
            <a:ext cx="8138160" cy="429768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551176"/>
            <a:ext cx="41148" cy="265176"/>
          </a:xfrm>
          <a:prstGeom prst="rect">
            <a:avLst/>
          </a:prstGeom>
          <a:solidFill>
            <a:srgbClr val="8600BB"/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" y="2468880"/>
            <a:ext cx="3108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SMS &amp; Email Automation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0" y="2468880"/>
            <a:ext cx="4572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 alerts for dues, absence and new circulars.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2971800"/>
            <a:ext cx="8138160" cy="429768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054096"/>
            <a:ext cx="41148" cy="265176"/>
          </a:xfrm>
          <a:prstGeom prst="rect">
            <a:avLst/>
          </a:prstGeom>
          <a:solidFill>
            <a:srgbClr val="00875A"/>
          </a:solidFill>
          <a:ln/>
        </p:spPr>
      </p:sp>
      <p:sp>
        <p:nvSpPr>
          <p:cNvPr id="20" name="Text 18"/>
          <p:cNvSpPr/>
          <p:nvPr/>
        </p:nvSpPr>
        <p:spPr>
          <a:xfrm>
            <a:off x="740664" y="2971800"/>
            <a:ext cx="3108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Card Generation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31920" y="2971800"/>
            <a:ext cx="4572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Auto-generated, print-ready report cards straight from marks data.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3474720"/>
            <a:ext cx="8138160" cy="429768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557016"/>
            <a:ext cx="41148" cy="2651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740664" y="3474720"/>
            <a:ext cx="3108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Analytics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31920" y="3474720"/>
            <a:ext cx="4572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performance trends and predictive insight for management.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" y="3977640"/>
            <a:ext cx="8138160" cy="429768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059936"/>
            <a:ext cx="41148" cy="265176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8" name="Text 26"/>
          <p:cNvSpPr/>
          <p:nvPr/>
        </p:nvSpPr>
        <p:spPr>
          <a:xfrm>
            <a:off x="740664" y="3977640"/>
            <a:ext cx="3108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Library &amp; Canteen Modules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31920" y="3977640"/>
            <a:ext cx="4572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 issue-return and canteen billing as new modules.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4553712"/>
            <a:ext cx="8138160" cy="219456"/>
          </a:xfrm>
          <a:prstGeom prst="roundRect">
            <a:avLst>
              <a:gd name="adj" fmla="val 25000"/>
            </a:avLst>
          </a:prstGeom>
          <a:solidFill>
            <a:srgbClr val="F2FBF6"/>
          </a:solidFill>
          <a:ln w="9525">
            <a:solidFill>
              <a:srgbClr val="CDEB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4553712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Already delivered:  </a:t>
            </a:r>
            <a:pPr indent="0" marL="0">
              <a:buNone/>
            </a:pPr>
            <a:r>
              <a:rPr lang="en-US" sz="90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fee payment - parents pay in-app and receive instant receipts.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SchoolMate  |  Roadmap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138160" y="487375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2148840"/>
            <a:ext cx="2743200" cy="2743200"/>
          </a:xfrm>
          <a:prstGeom prst="ellipse">
            <a:avLst/>
          </a:prstGeom>
          <a:solidFill>
            <a:srgbClr val="E30053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57200"/>
            <a:ext cx="1097280" cy="1097280"/>
          </a:xfrm>
          <a:prstGeom prst="ellipse">
            <a:avLst/>
          </a:prstGeom>
          <a:solidFill>
            <a:srgbClr val="3457D5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18872" cy="5148072"/>
          </a:xfrm>
          <a:prstGeom prst="rect">
            <a:avLst/>
          </a:prstGeom>
          <a:solidFill>
            <a:srgbClr val="E3005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85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300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SUMMARY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5488" y="98755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platform. Every department.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00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  </a:t>
            </a:r>
            <a:pPr indent="0" marL="0">
              <a:buNone/>
            </a:pPr>
            <a:r>
              <a:rPr lang="en-US" sz="1200" dirty="0">
                <a:solidFill>
                  <a:srgbClr val="C4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fully-built modules covering academics, communication, finance, HR and administration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231136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00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  </a:t>
            </a:r>
            <a:pPr indent="0" marL="0">
              <a:buNone/>
            </a:pPr>
            <a:r>
              <a:rPr lang="en-US" sz="1200" dirty="0">
                <a:solidFill>
                  <a:srgbClr val="C4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 control that secures every screen, every action and every URL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63347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00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  </a:t>
            </a:r>
            <a:pPr indent="0" marL="0">
              <a:buNone/>
            </a:pPr>
            <a:r>
              <a:rPr lang="en-US" sz="1200" dirty="0">
                <a:solidFill>
                  <a:srgbClr val="C4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workflows and audit logs standing behind every important decision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03580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00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  </a:t>
            </a:r>
            <a:pPr indent="0" marL="0">
              <a:buNone/>
            </a:pPr>
            <a:r>
              <a:rPr lang="en-US" sz="1200" dirty="0">
                <a:solidFill>
                  <a:srgbClr val="C4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dashboards that turn daily school operations into usable insight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38144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00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  </a:t>
            </a:r>
            <a:pPr indent="0" marL="0">
              <a:buNone/>
            </a:pPr>
            <a:r>
              <a:rPr lang="en-US" sz="1200" dirty="0">
                <a:solidFill>
                  <a:srgbClr val="C4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on a scalable stack - React and Redux on the front, .NET, MySQL and Azure behind 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041648"/>
            <a:ext cx="1005840" cy="27432"/>
          </a:xfrm>
          <a:prstGeom prst="rect">
            <a:avLst/>
          </a:prstGeom>
          <a:solidFill>
            <a:srgbClr val="E30053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2245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   |  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SchoolMate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SchoolMate - School Management System</dc:title>
  <dc:subject>PptxGenJS Presentation</dc:subject>
  <dc:creator>SchoolMate Team</dc:creator>
  <cp:lastModifiedBy>SchoolMate Team</cp:lastModifiedBy>
  <cp:revision>1</cp:revision>
  <dcterms:created xsi:type="dcterms:W3CDTF">2026-08-31T11:33:19Z</dcterms:created>
  <dcterms:modified xsi:type="dcterms:W3CDTF">2026-08-31T11:33:19Z</dcterms:modified>
</cp:coreProperties>
</file>